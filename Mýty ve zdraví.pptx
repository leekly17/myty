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C8A984-E1EC-E9BD-89EB-37FD27B8DC9D}" v="9" dt="2026-01-20T20:40:56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37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90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47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44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30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04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83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6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38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883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38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386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12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5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66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520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alth.harvard.edu/" TargetMode="External"/><Relationship Id="rId2" Type="http://schemas.openxmlformats.org/officeDocument/2006/relationships/hyperlink" Target="https://www.who.int/publication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zip.cz/clanek/1736-rizikova-konzumace-energetickych-napoju-u-mladych-lidi?utm_source=chatgpt.com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Mýty ve zdraví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Jakub Bernard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CBD1E0-CB3C-30CA-4E44-A6792B8AC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Dotazník: Technologie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03478C-193D-71EA-6C88-BF481805F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• Odpovědi: ano / ne / nejsem si jistý/á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• Studenti nejsou jednotní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• Ukážeme reálné výhody a rizika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0190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0B7328-9D14-76AF-7397-F4694BB3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Jak technologie pomáhají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44EED4-3BBB-1E1B-8AB8-42C6A6CAC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• sledování kroků, tepu, spánku</a:t>
            </a:r>
            <a:endParaRPr lang="cs-CZ"/>
          </a:p>
          <a:p>
            <a:r>
              <a:rPr lang="cs-CZ" dirty="0">
                <a:ea typeface="+mn-lt"/>
                <a:cs typeface="+mn-lt"/>
              </a:rPr>
              <a:t>• aplikace na meditaci a duševní zdraví</a:t>
            </a:r>
            <a:endParaRPr lang="cs-CZ"/>
          </a:p>
          <a:p>
            <a:r>
              <a:rPr lang="cs-CZ" dirty="0">
                <a:ea typeface="+mn-lt"/>
                <a:cs typeface="+mn-lt"/>
              </a:rPr>
              <a:t>• upozornění na pitný režim</a:t>
            </a:r>
            <a:endParaRPr lang="cs-CZ"/>
          </a:p>
          <a:p>
            <a:r>
              <a:rPr lang="cs-CZ" dirty="0">
                <a:ea typeface="+mn-lt"/>
                <a:cs typeface="+mn-lt"/>
              </a:rPr>
              <a:t>• lepší přehled o návycích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0574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00A4F1-92B3-A193-886A-F2E110C84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Rizika technologií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63EC78-B167-82CA-E058-DBF302756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příliš mnoho času na telefonu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modré světlo večer → horší spánek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úzkost z „čísílek“ (tep, spánek)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závislost na trvalém kontrolování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9717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0BC405-ABD7-41CD-454B-CCF29DE03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Mýtus: „Telefon večer nevadí“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9787B41-6285-AF1E-E333-EA5862370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Modré světlo snižuje melatonin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Zhoršuje usínání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Snižuje kvalitu spánku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3563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A6573C-056D-0C11-01D4-8D43E6CAB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Mýtus: „Studenti nepotřebují spát“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BEF770-6F49-D164-3993-716F64F48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Teenageři potřebují 8–10 hodin spánku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Málo spánku = horší pozornost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Ovlivňuje náladu, výkonnost i imunitu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4325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0695C7-5124-CB57-4AC6-568E51527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Mýtus: „Energetické nápoje jsou v pohodě“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A6B58D-EF1C-0119-7377-FE83EFBF8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zvyšují tep a úzkost</a:t>
            </a:r>
            <a:endParaRPr lang="cs-CZ">
              <a:ea typeface="+mn-lt"/>
              <a:cs typeface="+mn-lt"/>
            </a:endParaRPr>
          </a:p>
          <a:p>
            <a:r>
              <a:rPr lang="cs-CZ" dirty="0">
                <a:ea typeface="+mn-lt"/>
                <a:cs typeface="+mn-lt"/>
              </a:rPr>
              <a:t>kazí spánek</a:t>
            </a:r>
            <a:endParaRPr lang="cs-CZ">
              <a:ea typeface="+mn-lt"/>
              <a:cs typeface="+mn-lt"/>
            </a:endParaRPr>
          </a:p>
          <a:p>
            <a:r>
              <a:rPr lang="cs-CZ" dirty="0">
                <a:ea typeface="+mn-lt"/>
                <a:cs typeface="+mn-lt"/>
              </a:rPr>
              <a:t>krátkodobý efekt, dlouhodobé následky</a:t>
            </a:r>
            <a:endParaRPr lang="cs-CZ">
              <a:ea typeface="+mn-lt"/>
              <a:cs typeface="+mn-lt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3765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7585A3-4160-CC0D-A9A1-D87BEB885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Dotazník: Používání aplikací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5F08F0-69A9-5901-31BE-5490E6BE9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ano / občas / ne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Největší problém: nepravidelnost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Aplikace fungují jen při dlouhodobém používání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8845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013D90-7212-9834-7CFB-9594C913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Shrnutí</a:t>
            </a:r>
            <a:endParaRPr lang="cs-CZ" dirty="0"/>
          </a:p>
          <a:p>
            <a:pPr marL="285750" indent="-285750">
              <a:buFont typeface="Arial"/>
              <a:buChar char="•"/>
            </a:pPr>
            <a:endParaRPr lang="cs-CZ"/>
          </a:p>
          <a:p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449C4C-CEF5-FF7D-C041-F1C7F5C0F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technologie mohou pomoci – když se používají správně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mýty jsou běžné, ale dají se snadno vyvrátit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největší vliv má spánek, pohyb a rovnováha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3238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40FCF3-E5C0-8CF3-8662-31B6E912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12320DA-0341-47AC-9B98-56F85E6C2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b="1" dirty="0" err="1">
                <a:ea typeface="+mn-lt"/>
                <a:cs typeface="+mn-lt"/>
              </a:rPr>
              <a:t>World</a:t>
            </a:r>
            <a:r>
              <a:rPr lang="cs-CZ" b="1" dirty="0">
                <a:ea typeface="+mn-lt"/>
                <a:cs typeface="+mn-lt"/>
              </a:rPr>
              <a:t> </a:t>
            </a:r>
            <a:r>
              <a:rPr lang="cs-CZ" b="1" dirty="0" err="1">
                <a:ea typeface="+mn-lt"/>
                <a:cs typeface="+mn-lt"/>
              </a:rPr>
              <a:t>Health</a:t>
            </a:r>
            <a:r>
              <a:rPr lang="cs-CZ" b="1" dirty="0">
                <a:ea typeface="+mn-lt"/>
                <a:cs typeface="+mn-lt"/>
              </a:rPr>
              <a:t> </a:t>
            </a:r>
            <a:r>
              <a:rPr lang="cs-CZ" b="1" dirty="0" err="1">
                <a:ea typeface="+mn-lt"/>
                <a:cs typeface="+mn-lt"/>
              </a:rPr>
              <a:t>Organization</a:t>
            </a:r>
            <a:r>
              <a:rPr lang="cs-CZ" b="1" dirty="0">
                <a:ea typeface="+mn-lt"/>
                <a:cs typeface="+mn-lt"/>
              </a:rPr>
              <a:t>.</a:t>
            </a:r>
            <a:r>
              <a:rPr lang="cs-CZ" dirty="0">
                <a:ea typeface="+mn-lt"/>
                <a:cs typeface="+mn-lt"/>
              </a:rPr>
              <a:t> </a:t>
            </a:r>
            <a:r>
              <a:rPr lang="cs-CZ" i="1" dirty="0" err="1">
                <a:ea typeface="+mn-lt"/>
                <a:cs typeface="+mn-lt"/>
              </a:rPr>
              <a:t>Healthy</a:t>
            </a:r>
            <a:r>
              <a:rPr lang="cs-CZ" i="1" dirty="0">
                <a:ea typeface="+mn-lt"/>
                <a:cs typeface="+mn-lt"/>
              </a:rPr>
              <a:t> </a:t>
            </a:r>
            <a:r>
              <a:rPr lang="cs-CZ" i="1" dirty="0" err="1">
                <a:ea typeface="+mn-lt"/>
                <a:cs typeface="+mn-lt"/>
              </a:rPr>
              <a:t>living</a:t>
            </a:r>
            <a:r>
              <a:rPr lang="cs-CZ" i="1" dirty="0">
                <a:ea typeface="+mn-lt"/>
                <a:cs typeface="+mn-lt"/>
              </a:rPr>
              <a:t> </a:t>
            </a:r>
            <a:r>
              <a:rPr lang="cs-CZ" i="1" dirty="0" err="1">
                <a:ea typeface="+mn-lt"/>
                <a:cs typeface="+mn-lt"/>
              </a:rPr>
              <a:t>guidelines</a:t>
            </a:r>
            <a:r>
              <a:rPr lang="cs-CZ" i="1" dirty="0">
                <a:ea typeface="+mn-lt"/>
                <a:cs typeface="+mn-lt"/>
              </a:rPr>
              <a:t>: </a:t>
            </a:r>
            <a:r>
              <a:rPr lang="cs-CZ" i="1" dirty="0" err="1">
                <a:ea typeface="+mn-lt"/>
                <a:cs typeface="+mn-lt"/>
              </a:rPr>
              <a:t>Physical</a:t>
            </a:r>
            <a:r>
              <a:rPr lang="cs-CZ" i="1" dirty="0">
                <a:ea typeface="+mn-lt"/>
                <a:cs typeface="+mn-lt"/>
              </a:rPr>
              <a:t> </a:t>
            </a:r>
            <a:r>
              <a:rPr lang="cs-CZ" i="1" dirty="0" err="1">
                <a:ea typeface="+mn-lt"/>
                <a:cs typeface="+mn-lt"/>
              </a:rPr>
              <a:t>activity</a:t>
            </a:r>
            <a:r>
              <a:rPr lang="cs-CZ" i="1" dirty="0">
                <a:ea typeface="+mn-lt"/>
                <a:cs typeface="+mn-lt"/>
              </a:rPr>
              <a:t>, </a:t>
            </a:r>
            <a:r>
              <a:rPr lang="cs-CZ" i="1" dirty="0" err="1">
                <a:ea typeface="+mn-lt"/>
                <a:cs typeface="+mn-lt"/>
              </a:rPr>
              <a:t>sleep</a:t>
            </a:r>
            <a:r>
              <a:rPr lang="cs-CZ" i="1" dirty="0">
                <a:ea typeface="+mn-lt"/>
                <a:cs typeface="+mn-lt"/>
              </a:rPr>
              <a:t> and </a:t>
            </a:r>
            <a:r>
              <a:rPr lang="cs-CZ" i="1" dirty="0" err="1">
                <a:ea typeface="+mn-lt"/>
                <a:cs typeface="+mn-lt"/>
              </a:rPr>
              <a:t>well-being</a:t>
            </a:r>
            <a:r>
              <a:rPr lang="cs-CZ" dirty="0">
                <a:ea typeface="+mn-lt"/>
                <a:cs typeface="+mn-lt"/>
              </a:rPr>
              <a:t> [online]. ©2023 [cit. 16. 11. 2025].</a:t>
            </a:r>
            <a:br>
              <a:rPr lang="cs-CZ" dirty="0">
                <a:ea typeface="+mn-lt"/>
                <a:cs typeface="+mn-lt"/>
              </a:rPr>
            </a:br>
            <a:r>
              <a:rPr lang="cs-CZ" dirty="0">
                <a:ea typeface="+mn-lt"/>
                <a:cs typeface="+mn-lt"/>
              </a:rPr>
              <a:t> Dostupné z: </a:t>
            </a:r>
            <a:r>
              <a:rPr lang="cs-CZ" b="1" dirty="0">
                <a:ea typeface="+mn-lt"/>
                <a:cs typeface="+mn-lt"/>
                <a:hlinkClick r:id="rId2"/>
              </a:rPr>
              <a:t>WHO – Healthy Living Guidelines</a:t>
            </a:r>
            <a:endParaRPr lang="cs-CZ" b="1">
              <a:ea typeface="+mn-lt"/>
              <a:cs typeface="+mn-lt"/>
            </a:endParaRPr>
          </a:p>
          <a:p>
            <a:r>
              <a:rPr lang="cs-CZ" b="1" dirty="0">
                <a:ea typeface="+mn-lt"/>
                <a:cs typeface="+mn-lt"/>
              </a:rPr>
              <a:t>Harvard </a:t>
            </a:r>
            <a:r>
              <a:rPr lang="cs-CZ" b="1" dirty="0" err="1">
                <a:ea typeface="+mn-lt"/>
                <a:cs typeface="+mn-lt"/>
              </a:rPr>
              <a:t>Medical</a:t>
            </a:r>
            <a:r>
              <a:rPr lang="cs-CZ" b="1" dirty="0">
                <a:ea typeface="+mn-lt"/>
                <a:cs typeface="+mn-lt"/>
              </a:rPr>
              <a:t> </a:t>
            </a:r>
            <a:r>
              <a:rPr lang="cs-CZ" b="1" dirty="0" err="1">
                <a:ea typeface="+mn-lt"/>
                <a:cs typeface="+mn-lt"/>
              </a:rPr>
              <a:t>School</a:t>
            </a:r>
            <a:r>
              <a:rPr lang="cs-CZ" b="1" dirty="0">
                <a:ea typeface="+mn-lt"/>
                <a:cs typeface="+mn-lt"/>
              </a:rPr>
              <a:t>.</a:t>
            </a:r>
            <a:r>
              <a:rPr lang="cs-CZ" dirty="0">
                <a:ea typeface="+mn-lt"/>
                <a:cs typeface="+mn-lt"/>
              </a:rPr>
              <a:t> </a:t>
            </a:r>
            <a:r>
              <a:rPr lang="cs-CZ" i="1" dirty="0" err="1">
                <a:ea typeface="+mn-lt"/>
                <a:cs typeface="+mn-lt"/>
              </a:rPr>
              <a:t>Energy</a:t>
            </a:r>
            <a:r>
              <a:rPr lang="cs-CZ" i="1" dirty="0">
                <a:ea typeface="+mn-lt"/>
                <a:cs typeface="+mn-lt"/>
              </a:rPr>
              <a:t> </a:t>
            </a:r>
            <a:r>
              <a:rPr lang="cs-CZ" i="1" dirty="0" err="1">
                <a:ea typeface="+mn-lt"/>
                <a:cs typeface="+mn-lt"/>
              </a:rPr>
              <a:t>drinks</a:t>
            </a:r>
            <a:r>
              <a:rPr lang="cs-CZ" i="1" dirty="0">
                <a:ea typeface="+mn-lt"/>
                <a:cs typeface="+mn-lt"/>
              </a:rPr>
              <a:t>: </a:t>
            </a:r>
            <a:r>
              <a:rPr lang="cs-CZ" i="1" dirty="0" err="1">
                <a:ea typeface="+mn-lt"/>
                <a:cs typeface="+mn-lt"/>
              </a:rPr>
              <a:t>Health</a:t>
            </a:r>
            <a:r>
              <a:rPr lang="cs-CZ" i="1" dirty="0">
                <a:ea typeface="+mn-lt"/>
                <a:cs typeface="+mn-lt"/>
              </a:rPr>
              <a:t> </a:t>
            </a:r>
            <a:r>
              <a:rPr lang="cs-CZ" i="1" dirty="0" err="1">
                <a:ea typeface="+mn-lt"/>
                <a:cs typeface="+mn-lt"/>
              </a:rPr>
              <a:t>effects</a:t>
            </a:r>
            <a:r>
              <a:rPr lang="cs-CZ" i="1" dirty="0">
                <a:ea typeface="+mn-lt"/>
                <a:cs typeface="+mn-lt"/>
              </a:rPr>
              <a:t> and </a:t>
            </a:r>
            <a:r>
              <a:rPr lang="cs-CZ" i="1" dirty="0" err="1">
                <a:ea typeface="+mn-lt"/>
                <a:cs typeface="+mn-lt"/>
              </a:rPr>
              <a:t>safety</a:t>
            </a:r>
            <a:r>
              <a:rPr lang="cs-CZ" i="1" dirty="0">
                <a:ea typeface="+mn-lt"/>
                <a:cs typeface="+mn-lt"/>
              </a:rPr>
              <a:t> </a:t>
            </a:r>
            <a:r>
              <a:rPr lang="cs-CZ" i="1" dirty="0" err="1">
                <a:ea typeface="+mn-lt"/>
                <a:cs typeface="+mn-lt"/>
              </a:rPr>
              <a:t>concerns</a:t>
            </a:r>
            <a:r>
              <a:rPr lang="cs-CZ" dirty="0">
                <a:ea typeface="+mn-lt"/>
                <a:cs typeface="+mn-lt"/>
              </a:rPr>
              <a:t> [online]. ©2022 [cit. 16. 11. 2025].</a:t>
            </a:r>
            <a:br>
              <a:rPr lang="cs-CZ" dirty="0">
                <a:ea typeface="+mn-lt"/>
                <a:cs typeface="+mn-lt"/>
              </a:rPr>
            </a:br>
            <a:r>
              <a:rPr lang="cs-CZ" dirty="0">
                <a:ea typeface="+mn-lt"/>
                <a:cs typeface="+mn-lt"/>
              </a:rPr>
              <a:t> Dostupné z: </a:t>
            </a:r>
            <a:r>
              <a:rPr lang="cs-CZ" b="1" dirty="0">
                <a:ea typeface="+mn-lt"/>
                <a:cs typeface="+mn-lt"/>
                <a:hlinkClick r:id="rId3"/>
              </a:rPr>
              <a:t>Harvard Health Publishing – Energy Drinks</a:t>
            </a:r>
            <a:endParaRPr lang="cs-CZ" b="1">
              <a:ea typeface="+mn-lt"/>
              <a:cs typeface="+mn-lt"/>
            </a:endParaRPr>
          </a:p>
          <a:p>
            <a:r>
              <a:rPr lang="cs-CZ" b="1" dirty="0">
                <a:ea typeface="+mn-lt"/>
                <a:cs typeface="+mn-lt"/>
              </a:rPr>
              <a:t>Národní zdravotnický informační portál.</a:t>
            </a:r>
            <a:r>
              <a:rPr lang="cs-CZ" dirty="0">
                <a:ea typeface="+mn-lt"/>
                <a:cs typeface="+mn-lt"/>
              </a:rPr>
              <a:t> </a:t>
            </a:r>
            <a:r>
              <a:rPr lang="cs-CZ" i="1" dirty="0">
                <a:ea typeface="+mn-lt"/>
                <a:cs typeface="+mn-lt"/>
              </a:rPr>
              <a:t>Riziková konzumace energetických nápojů u mladých lidí</a:t>
            </a:r>
            <a:r>
              <a:rPr lang="cs-CZ" dirty="0">
                <a:ea typeface="+mn-lt"/>
                <a:cs typeface="+mn-lt"/>
              </a:rPr>
              <a:t> [online]. NZIP, ©2023 [cit. 13. 11. 2025].</a:t>
            </a:r>
            <a:br>
              <a:rPr lang="cs-CZ" dirty="0">
                <a:ea typeface="+mn-lt"/>
                <a:cs typeface="+mn-lt"/>
              </a:rPr>
            </a:br>
            <a:r>
              <a:rPr lang="cs-CZ" dirty="0">
                <a:ea typeface="+mn-lt"/>
                <a:cs typeface="+mn-lt"/>
              </a:rPr>
              <a:t> Dostupné z: </a:t>
            </a:r>
            <a:r>
              <a:rPr lang="cs-CZ" b="1" dirty="0">
                <a:ea typeface="+mn-lt"/>
                <a:cs typeface="+mn-lt"/>
                <a:hlinkClick r:id="rId4"/>
              </a:rPr>
              <a:t>NZIP – Riziková konzumace energetických nápojů u mladých lidí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4764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1F3BFF-EA23-FC0A-E90B-17C5D2649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7067" y="4050833"/>
            <a:ext cx="7766936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endParaRPr lang="en-US" sz="180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A43D056-BCEA-8805-405F-CB1740BC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067" y="1397000"/>
            <a:ext cx="7766936" cy="26538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272160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Širokoúhlá obrazovka</PresentationFormat>
  <Paragraphs>0</Paragraphs>
  <Slides>11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2" baseType="lpstr">
      <vt:lpstr>Facet</vt:lpstr>
      <vt:lpstr>Mýty ve zdraví</vt:lpstr>
      <vt:lpstr>Dotazník: Technologie</vt:lpstr>
      <vt:lpstr>Jak technologie pomáhají</vt:lpstr>
      <vt:lpstr>Rizika technologií</vt:lpstr>
      <vt:lpstr>Mýtus: „Telefon večer nevadí“</vt:lpstr>
      <vt:lpstr>Mýtus: „Studenti nepotřebují spát“</vt:lpstr>
      <vt:lpstr>Mýtus: „Energetické nápoje jsou v pohodě“</vt:lpstr>
      <vt:lpstr>Dotazník: Používání aplikací</vt:lpstr>
      <vt:lpstr>Shrnutí  </vt:lpstr>
      <vt:lpstr>Zdroje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59</cp:revision>
  <dcterms:created xsi:type="dcterms:W3CDTF">2025-11-16T15:36:13Z</dcterms:created>
  <dcterms:modified xsi:type="dcterms:W3CDTF">2026-01-20T20:41:46Z</dcterms:modified>
</cp:coreProperties>
</file>